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3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400050" y="3429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Kaggle Capstone Demo</a:t>
            </a:r>
            <a:endParaRPr sz="1350" b="1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3733800"/>
            <a:ext cx="5810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Turning noisy Web3 RSS, forum, and governance feeds into qualified, evidence-backed business leads.</a:t>
            </a:r>
            <a:endParaRPr sz="2100" b="0">
              <a:solidFill>
                <a:srgbClr val="555555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4953000"/>
            <a:ext cx="952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555555"/>
                </a:solidFill>
              </a:defRPr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734300" y="1123950"/>
            <a:ext cx="3429000" cy="400050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p/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096250" y="14287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Concepts covered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096250" y="2266950"/>
            <a:ext cx="2476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ADK</a:t>
            </a:r>
            <a:endParaRPr sz="2550" b="1">
              <a:solidFill>
                <a:srgbClr val="000000"/>
              </a:solidFill>
            </a:endParaRPr>
          </a:p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MCP</a:t>
            </a:r>
            <a:endParaRPr sz="2550" b="1">
              <a:solidFill>
                <a:srgbClr val="000000"/>
              </a:solidFill>
            </a:endParaRPr>
          </a:p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Security</a:t>
            </a:r>
            <a:endParaRPr sz="2550" b="1">
              <a:solidFill>
                <a:srgbClr val="000000"/>
              </a:solidFill>
            </a:endParaRPr>
          </a:p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Agent Skill</a:t>
            </a:r>
            <a:endParaRPr sz="2550" b="1">
              <a:solidFill>
                <a:srgbClr val="000000"/>
              </a:solidFill>
            </a:endParaRPr>
          </a:p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Deployability</a:t>
            </a:r>
            <a:endParaRPr sz="2550" b="1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00050" y="62865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5-Day AI Agents Intensive: Vibe Coding Capstone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334750" y="6286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900">
                <a:solidFill>
                  <a:srgbClr val="000000"/>
                </a:solidFill>
              </a:rPr>
              <a:t>01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0050" y="3190875"/>
            <a:ext cx="4117340" cy="440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6B35"/>
                </a:solidFill>
              </a:defRPr>
            </a:pPr>
            <a:r>
              <a:rPr sz="2000" b="1">
                <a:solidFill>
                  <a:srgbClr val="FF6B35"/>
                </a:solidFill>
              </a:rPr>
              <a:t>Track: Agents for Business</a:t>
            </a:r>
            <a:endParaRPr sz="2000" b="1">
              <a:solidFill>
                <a:srgbClr val="FF6B35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0050" y="1485900"/>
            <a:ext cx="6572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500" b="1">
                <a:solidFill>
                  <a:srgbClr val="000000"/>
                </a:solidFill>
              </a:defRPr>
            </a:pPr>
            <a:r>
              <a:rPr sz="4500" b="1">
                <a:solidFill>
                  <a:srgbClr val="000000"/>
                </a:solidFill>
              </a:rPr>
              <a:t>Web3 </a:t>
            </a:r>
            <a:r>
              <a:rPr lang="en-IN" sz="4500" b="1">
                <a:solidFill>
                  <a:srgbClr val="000000"/>
                </a:solidFill>
              </a:rPr>
              <a:t>Agent to turn feeds int</a:t>
            </a:r>
            <a:r>
              <a:rPr sz="4500" b="1">
                <a:solidFill>
                  <a:srgbClr val="000000"/>
                </a:solidFill>
              </a:rPr>
              <a:t>o</a:t>
            </a:r>
            <a:r>
              <a:rPr lang="en-IN" sz="4500" b="1">
                <a:solidFill>
                  <a:srgbClr val="000000"/>
                </a:solidFill>
              </a:rPr>
              <a:t> actionable l</a:t>
            </a:r>
            <a:r>
              <a:rPr sz="4500" b="1">
                <a:solidFill>
                  <a:srgbClr val="000000"/>
                </a:solidFill>
              </a:rPr>
              <a:t>ead</a:t>
            </a:r>
            <a:r>
              <a:rPr lang="en-IN" sz="4500" b="1">
                <a:solidFill>
                  <a:srgbClr val="000000"/>
                </a:solidFill>
              </a:rPr>
              <a:t>s</a:t>
            </a:r>
            <a:endParaRPr lang="en-IN" sz="45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400050" y="342900"/>
            <a:ext cx="4000500" cy="321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400" b="1">
                <a:solidFill>
                  <a:srgbClr val="555555"/>
                </a:solidFill>
              </a:rPr>
              <a:t>PROBLEM</a:t>
            </a:r>
            <a:endParaRPr sz="1400" b="1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742950"/>
            <a:ext cx="115474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problem is not lack of data. It is finding actionable </a:t>
            </a:r>
            <a:r>
              <a:rPr lang="en-IN" sz="2700" b="1">
                <a:solidFill>
                  <a:srgbClr val="000000"/>
                </a:solidFill>
              </a:rPr>
              <a:t>leads from noisy feeds</a:t>
            </a:r>
            <a:r>
              <a:rPr sz="2700" b="1">
                <a:solidFill>
                  <a:srgbClr val="000000"/>
                </a:solidFill>
              </a:rPr>
              <a:t>.</a:t>
            </a:r>
            <a:endParaRPr sz="2700" b="1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62865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Web3 Signal-to-Lead Agent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334750" y="6286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900">
                <a:solidFill>
                  <a:srgbClr val="000000"/>
                </a:solidFill>
              </a:rPr>
              <a:t>02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00050" y="2019300"/>
            <a:ext cx="5538470" cy="338709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67080" y="221996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Noisy input</a:t>
            </a:r>
            <a:endParaRPr sz="2250" b="1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04190" y="2741930"/>
            <a:ext cx="5146675" cy="25800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lang="en-US" altLang="en-US" sz="1725" b="0">
                <a:solidFill>
                  <a:srgbClr val="555555"/>
                </a:solidFill>
              </a:rPr>
              <a:t>•</a:t>
            </a:r>
            <a:r>
              <a:rPr lang="en-US" altLang="en-US" sz="1800" b="0">
                <a:solidFill>
                  <a:srgbClr val="555555"/>
                </a:solidFill>
              </a:rPr>
              <a:t> 1,576 enabled Web3 sources</a:t>
            </a:r>
            <a:endParaRPr lang="en-US" altLang="en-US" sz="1800" b="0">
              <a:solidFill>
                <a:srgbClr val="555555"/>
              </a:solidFill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lang="en-US" altLang="en-US" sz="1800" b="0">
                <a:solidFill>
                  <a:srgbClr val="555555"/>
                </a:solidFill>
              </a:rPr>
              <a:t>• ~1,600-1,700 noisy weekly feed events</a:t>
            </a:r>
            <a:endParaRPr lang="en-US" altLang="en-US" sz="1800" b="0">
              <a:solidFill>
                <a:srgbClr val="555555"/>
              </a:solidFill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lang="en-US" altLang="en-US" sz="1800" b="0">
                <a:solidFill>
                  <a:srgbClr val="555555"/>
                </a:solidFill>
              </a:rPr>
              <a:t>• Governance forums, GitHub issues/releases, grants/RFPs, partner blogs</a:t>
            </a:r>
            <a:endParaRPr lang="en-US" altLang="en-US" sz="1800" b="0">
              <a:solidFill>
                <a:srgbClr val="555555"/>
              </a:solidFill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lang="en-US" altLang="en-US" sz="1800" b="0">
                <a:solidFill>
                  <a:srgbClr val="555555"/>
                </a:solidFill>
              </a:rPr>
              <a:t>• Actionable BD opportunities are buried among routine updates</a:t>
            </a:r>
            <a:endParaRPr lang="en-US" altLang="en-US" sz="1800" b="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108065" y="2019300"/>
            <a:ext cx="5683885" cy="337693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311900" y="220281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Qualified output</a:t>
            </a:r>
            <a:endParaRPr sz="2250" b="1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213475" y="2803525"/>
            <a:ext cx="5401945" cy="2266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900" b="0">
                <a:solidFill>
                  <a:srgbClr val="555555"/>
                </a:solidFill>
              </a:rPr>
              <a:t>•</a:t>
            </a:r>
            <a:r>
              <a:rPr sz="1800" b="0">
                <a:solidFill>
                  <a:srgbClr val="555555"/>
                </a:solidFill>
              </a:rPr>
              <a:t> About 1.5%-2.0% become qualified candidates</a:t>
            </a:r>
            <a:endParaRPr sz="1800" b="0">
              <a:solidFill>
                <a:srgbClr val="555555"/>
              </a:solidFill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Evidence snippet, source URL, and outreach angle</a:t>
            </a:r>
            <a:endParaRPr sz="1800" b="0">
              <a:solidFill>
                <a:srgbClr val="555555"/>
              </a:solidFill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Merge candidates from multiple BD-week passes</a:t>
            </a:r>
            <a:endParaRPr sz="1800" b="0">
              <a:solidFill>
                <a:srgbClr val="555555"/>
              </a:solidFill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Final unique list after event-set + company/action </a:t>
            </a:r>
            <a:endParaRPr sz="1800" b="0">
              <a:solidFill>
                <a:srgbClr val="555555"/>
              </a:solidFill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 </a:t>
            </a:r>
            <a:r>
              <a:rPr lang="en-IN" sz="1800" b="0">
                <a:solidFill>
                  <a:srgbClr val="555555"/>
                </a:solidFill>
              </a:rPr>
              <a:t>  </a:t>
            </a:r>
            <a:r>
              <a:rPr sz="1800" b="0">
                <a:solidFill>
                  <a:srgbClr val="555555"/>
                </a:solidFill>
              </a:rPr>
              <a:t>dedupe</a:t>
            </a:r>
            <a:endParaRPr sz="1800" b="0">
              <a:solidFill>
                <a:srgbClr val="555555"/>
              </a:solidFill>
            </a:endParaRPr>
          </a:p>
          <a:p>
            <a:pPr algn="l">
              <a:buNone/>
              <a:defRPr sz="1725" b="0">
                <a:solidFill>
                  <a:srgbClr val="555555"/>
                </a:solidFill>
              </a:defRPr>
            </a:pPr>
            <a:r>
              <a:rPr sz="1900" b="0">
                <a:solidFill>
                  <a:srgbClr val="555555"/>
                </a:solidFill>
              </a:rPr>
              <a:t> </a:t>
            </a:r>
            <a:r>
              <a:rPr sz="1900" b="0">
                <a:solidFill>
                  <a:srgbClr val="555555"/>
                </a:solidFill>
              </a:rPr>
              <a:t>  </a:t>
            </a:r>
            <a:endParaRPr sz="190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400050" y="342900"/>
            <a:ext cx="4000500" cy="346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400" b="1">
                <a:solidFill>
                  <a:srgbClr val="555555"/>
                </a:solidFill>
              </a:rPr>
              <a:t>SYSTEM</a:t>
            </a:r>
            <a:endParaRPr sz="1400" b="1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742950"/>
            <a:ext cx="1076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Architecture: preprocess once, match across BD-week horizons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62865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Web3 Signal-to-Lead Agent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334750" y="6286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900">
                <a:solidFill>
                  <a:srgbClr val="000000"/>
                </a:solidFill>
              </a:rPr>
              <a:t>03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35685" y="2476500"/>
            <a:ext cx="1285875" cy="876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149985" y="2781300"/>
            <a:ext cx="11722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Collect</a:t>
            </a:r>
            <a:r>
              <a:rPr lang="en-IN" sz="1500" b="1">
                <a:solidFill>
                  <a:srgbClr val="000000"/>
                </a:solidFill>
              </a:rPr>
              <a:t> Feed</a:t>
            </a:r>
            <a:endParaRPr lang="en-IN" sz="1500" b="1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2388235" y="27813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  <a:endParaRPr sz="2100" b="1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626360" y="2476500"/>
            <a:ext cx="1285875" cy="876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2740660" y="2781300"/>
            <a:ext cx="1057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Preprocess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978910" y="27813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  <a:endParaRPr sz="2100" b="1">
              <a:solidFill>
                <a:srgbClr val="555555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217035" y="2476500"/>
            <a:ext cx="1476375" cy="876300"/>
          </a:xfrm>
          <a:prstGeom prst="rect">
            <a:avLst/>
          </a:prstGeom>
          <a:solidFill>
            <a:srgbClr val="FFE6DA"/>
          </a:solidFill>
          <a:ln w="9525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331335" y="2781300"/>
            <a:ext cx="1257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Matcher</a:t>
            </a:r>
            <a:r>
              <a:rPr lang="en-IN" sz="1500" b="1">
                <a:solidFill>
                  <a:srgbClr val="000000"/>
                </a:solidFill>
              </a:rPr>
              <a:t> </a:t>
            </a:r>
            <a:r>
              <a:rPr sz="1500" b="1">
                <a:solidFill>
                  <a:srgbClr val="000000"/>
                </a:solidFill>
              </a:rPr>
              <a:t>x5</a:t>
            </a:r>
            <a:r>
              <a:rPr lang="en-IN" sz="1500" b="1">
                <a:solidFill>
                  <a:srgbClr val="000000"/>
                </a:solidFill>
              </a:rPr>
              <a:t> (BD Weeks)</a:t>
            </a:r>
            <a:endParaRPr lang="en-IN" sz="1500" b="1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725160" y="27813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  <a:endParaRPr sz="2100" b="1">
              <a:solidFill>
                <a:srgbClr val="555555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963285" y="2476500"/>
            <a:ext cx="1285875" cy="876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077585" y="2781300"/>
            <a:ext cx="1057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Merge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315835" y="27813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  <a:endParaRPr sz="2100" b="1">
              <a:solidFill>
                <a:srgbClr val="555555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553960" y="2476500"/>
            <a:ext cx="1285875" cy="876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668260" y="2781300"/>
            <a:ext cx="1057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Dedupe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906510" y="27813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  <a:endParaRPr sz="2100" b="1">
              <a:solidFill>
                <a:srgbClr val="555555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9144635" y="2476500"/>
            <a:ext cx="1285875" cy="876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258935" y="2781300"/>
            <a:ext cx="1057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lang="en-IN" sz="1500" b="1">
                <a:solidFill>
                  <a:srgbClr val="000000"/>
                </a:solidFill>
              </a:rPr>
              <a:t>Audit &amp; </a:t>
            </a:r>
            <a:r>
              <a:rPr sz="1500" b="1">
                <a:solidFill>
                  <a:srgbClr val="000000"/>
                </a:solidFill>
              </a:rPr>
              <a:t>Report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295400" y="4000500"/>
            <a:ext cx="2667000" cy="1047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1524000" y="414909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ADK root agent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487805" y="4547870"/>
            <a:ext cx="2324100" cy="386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400" b="0">
                <a:solidFill>
                  <a:srgbClr val="555555"/>
                </a:solidFill>
              </a:rPr>
              <a:t>ADK wrapper for public demo</a:t>
            </a:r>
            <a:r>
              <a:rPr sz="1125" b="0">
                <a:solidFill>
                  <a:srgbClr val="555555"/>
                </a:solidFill>
              </a:rPr>
              <a:t>.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4690745" y="4000500"/>
            <a:ext cx="2667000" cy="1047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5016500" y="414909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MCP server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4991100" y="4519295"/>
            <a:ext cx="2095500" cy="41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400" b="0">
                <a:solidFill>
                  <a:srgbClr val="555555"/>
                </a:solidFill>
              </a:rPr>
              <a:t>MCP exposes demo tools</a:t>
            </a:r>
            <a:r>
              <a:rPr sz="1125" b="0">
                <a:solidFill>
                  <a:srgbClr val="555555"/>
                </a:solidFill>
              </a:rPr>
              <a:t>.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8014335" y="4000500"/>
            <a:ext cx="2667000" cy="1047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293735" y="407733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Agent Skill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8123555" y="4418965"/>
            <a:ext cx="235204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400" b="0">
                <a:solidFill>
                  <a:srgbClr val="555555"/>
                </a:solidFill>
              </a:rPr>
              <a:t>Multi-pass reduces variance; dedupe restores precision.</a:t>
            </a:r>
            <a:endParaRPr sz="140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64646"/>
                </a:solidFill>
              </a:rPr>
              <a:t>MATCHER</a:t>
            </a:r>
            <a:endParaRPr sz="1100" b="1">
              <a:solidFill>
                <a:srgbClr val="46464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857631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</a:rPr>
              <a:t>Matcher </a:t>
            </a:r>
            <a:r>
              <a:rPr lang="en-IN" sz="3000" b="1">
                <a:solidFill>
                  <a:srgbClr val="000000"/>
                </a:solidFill>
              </a:rPr>
              <a:t>Agents </a:t>
            </a:r>
            <a:r>
              <a:rPr sz="3000" b="1">
                <a:solidFill>
                  <a:srgbClr val="000000"/>
                </a:solidFill>
              </a:rPr>
              <a:t>: qualify signals into actionable leads</a:t>
            </a:r>
            <a:endParaRPr sz="3000" b="1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6032" y="1261872"/>
            <a:ext cx="1165860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44700"/>
            <a:ext cx="1234440" cy="777240"/>
          </a:xfrm>
          <a:prstGeom prst="rect">
            <a:avLst/>
          </a:prstGeom>
          <a:solidFill>
            <a:srgbClr val="EEEEEE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</a:rPr>
              <a:t>Preprocessed
Events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79040" y="3617595"/>
            <a:ext cx="1616075" cy="1216660"/>
          </a:xfrm>
          <a:prstGeom prst="rect">
            <a:avLst/>
          </a:prstGeom>
          <a:solidFill>
            <a:srgbClr val="EEEEEE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500" b="1">
                <a:solidFill>
                  <a:srgbClr val="000000"/>
                </a:solidFill>
              </a:rPr>
              <a:t>BD actionable </a:t>
            </a:r>
            <a:r>
              <a:rPr sz="1500" b="1">
                <a:solidFill>
                  <a:srgbClr val="000000"/>
                </a:solidFill>
              </a:rPr>
              <a:t>Candidate
Leads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4792" y="2200148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64646"/>
                </a:solidFill>
              </a:rPr>
              <a:t>&gt;</a:t>
            </a:r>
            <a:endParaRPr sz="1800" b="1">
              <a:solidFill>
                <a:srgbClr val="46464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1360" y="1700530"/>
            <a:ext cx="2179320" cy="1523365"/>
          </a:xfrm>
          <a:prstGeom prst="rect">
            <a:avLst/>
          </a:prstGeom>
          <a:solidFill>
            <a:srgbClr val="F8F8F8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t"/>
          <a:lstStyle/>
          <a:p>
            <a:pPr algn="ctr"/>
            <a:r>
              <a:rPr b="1">
                <a:solidFill>
                  <a:srgbClr val="000000"/>
                </a:solidFill>
              </a:rPr>
              <a:t>Gatekeeper</a:t>
            </a:r>
            <a:endParaRPr b="1">
              <a:solidFill>
                <a:srgbClr val="000000"/>
              </a:solidFill>
            </a:endParaRP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464646"/>
                </a:solidFill>
              </a:rPr>
              <a:t>Rejects noise; requires
real action surface</a:t>
            </a:r>
            <a:endParaRPr sz="1600">
              <a:solidFill>
                <a:srgbClr val="46464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24020" y="2278380"/>
            <a:ext cx="196850" cy="2400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800" b="1">
                <a:solidFill>
                  <a:srgbClr val="464646"/>
                </a:solidFill>
              </a:rPr>
              <a:t>&gt;</a:t>
            </a:r>
            <a:endParaRPr sz="1800" b="1">
              <a:solidFill>
                <a:srgbClr val="46464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84065" y="1700530"/>
            <a:ext cx="2452370" cy="1522730"/>
          </a:xfrm>
          <a:prstGeom prst="rect">
            <a:avLst/>
          </a:prstGeom>
          <a:solidFill>
            <a:schemeClr val="bg1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t"/>
          <a:lstStyle/>
          <a:p>
            <a:pPr algn="ctr"/>
            <a:r>
              <a:rPr b="1">
                <a:solidFill>
                  <a:srgbClr val="000000"/>
                </a:solidFill>
              </a:rPr>
              <a:t>Lead Finder</a:t>
            </a:r>
            <a:endParaRPr sz="1600" b="1">
              <a:solidFill>
                <a:srgbClr val="000000"/>
              </a:solidFill>
            </a:endParaRPr>
          </a:p>
          <a:p>
            <a:pPr algn="ctr">
              <a:spcBef>
                <a:spcPts val="800"/>
              </a:spcBef>
            </a:pPr>
            <a:r>
              <a:rPr lang="en-IN" sz="1600">
                <a:solidFill>
                  <a:srgbClr val="464646"/>
                </a:solidFill>
              </a:rPr>
              <a:t>Identifies</a:t>
            </a:r>
            <a:r>
              <a:rPr sz="1600">
                <a:solidFill>
                  <a:srgbClr val="464646"/>
                </a:solidFill>
              </a:rPr>
              <a:t> candidate lead
with target, evidence,
confidence</a:t>
            </a:r>
            <a:endParaRPr sz="1600">
              <a:solidFill>
                <a:srgbClr val="46464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24827" y="2276348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64646"/>
                </a:solidFill>
              </a:rPr>
              <a:t>&gt;</a:t>
            </a:r>
            <a:endParaRPr sz="1800" b="1">
              <a:solidFill>
                <a:srgbClr val="464646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64425" y="1700530"/>
            <a:ext cx="2241550" cy="1561465"/>
          </a:xfrm>
          <a:prstGeom prst="rect">
            <a:avLst/>
          </a:prstGeom>
          <a:solidFill>
            <a:srgbClr val="F8F8F8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t"/>
          <a:lstStyle/>
          <a:p>
            <a:pPr algn="ctr"/>
            <a:r>
              <a:rPr b="1">
                <a:solidFill>
                  <a:srgbClr val="000000"/>
                </a:solidFill>
              </a:rPr>
              <a:t>Critic</a:t>
            </a:r>
            <a:endParaRPr b="1">
              <a:solidFill>
                <a:srgbClr val="000000"/>
              </a:solidFill>
            </a:endParaRP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464646"/>
                </a:solidFill>
              </a:rPr>
              <a:t>Checks weak evidence,
invented claims,
low-action items</a:t>
            </a:r>
            <a:endParaRPr sz="1600">
              <a:solidFill>
                <a:srgbClr val="46464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11085" y="3543935"/>
            <a:ext cx="2294255" cy="1426845"/>
          </a:xfrm>
          <a:prstGeom prst="rect">
            <a:avLst/>
          </a:prstGeom>
          <a:solidFill>
            <a:srgbClr val="F8F8F8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t"/>
          <a:lstStyle/>
          <a:p>
            <a:pPr algn="ctr"/>
            <a:r>
              <a:rPr b="1">
                <a:solidFill>
                  <a:srgbClr val="000000"/>
                </a:solidFill>
              </a:rPr>
              <a:t>Refiner</a:t>
            </a:r>
            <a:endParaRPr b="1">
              <a:solidFill>
                <a:srgbClr val="000000"/>
              </a:solidFill>
            </a:endParaRP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464646"/>
                </a:solidFill>
              </a:rPr>
              <a:t>Improves outreach angle
and BD-ready wording</a:t>
            </a:r>
            <a:endParaRPr sz="1600">
              <a:solidFill>
                <a:srgbClr val="46464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92430" y="4077208"/>
            <a:ext cx="29654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800" b="1">
                <a:solidFill>
                  <a:srgbClr val="464646"/>
                </a:solidFill>
              </a:rPr>
              <a:t>&lt;</a:t>
            </a:r>
            <a:endParaRPr sz="1800" b="1">
              <a:solidFill>
                <a:srgbClr val="46464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36135" y="3601085"/>
            <a:ext cx="2356485" cy="1450975"/>
          </a:xfrm>
          <a:prstGeom prst="rect">
            <a:avLst/>
          </a:prstGeom>
          <a:solidFill>
            <a:srgbClr val="F8F8F8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t"/>
          <a:lstStyle/>
          <a:p>
            <a:pPr algn="ctr"/>
            <a:r>
              <a:rPr b="1">
                <a:solidFill>
                  <a:srgbClr val="000000"/>
                </a:solidFill>
              </a:rPr>
              <a:t>Recovery </a:t>
            </a:r>
            <a:endParaRPr b="1">
              <a:solidFill>
                <a:srgbClr val="000000"/>
              </a:solidFill>
            </a:endParaRP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464646"/>
                </a:solidFill>
              </a:rPr>
              <a:t>Rescues strong near-
misses for later review</a:t>
            </a:r>
            <a:endParaRPr sz="1600">
              <a:solidFill>
                <a:srgbClr val="46464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79875" y="4077335"/>
            <a:ext cx="358140" cy="4127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IN" sz="1800" b="1">
                <a:solidFill>
                  <a:srgbClr val="464646"/>
                </a:solidFill>
              </a:rPr>
              <a:t>&lt;</a:t>
            </a:r>
            <a:endParaRPr sz="1800" b="1">
              <a:solidFill>
                <a:srgbClr val="464646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83615" y="5445125"/>
            <a:ext cx="10012680" cy="455930"/>
          </a:xfrm>
          <a:prstGeom prst="rect">
            <a:avLst/>
          </a:prstGeom>
          <a:solidFill>
            <a:srgbClr val="EEEEEE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000000"/>
                </a:solidFill>
              </a:rPr>
              <a:t>Each BD-week </a:t>
            </a:r>
            <a:r>
              <a:rPr lang="en-IN" sz="1700" b="1">
                <a:solidFill>
                  <a:srgbClr val="000000"/>
                </a:solidFill>
              </a:rPr>
              <a:t>run</a:t>
            </a:r>
            <a:r>
              <a:rPr sz="1700" b="1">
                <a:solidFill>
                  <a:srgbClr val="000000"/>
                </a:solidFill>
              </a:rPr>
              <a:t> uses this matcher flow; merge + dedupe consolidate results a</a:t>
            </a:r>
            <a:r>
              <a:rPr lang="en-IN" sz="1700" b="1">
                <a:solidFill>
                  <a:srgbClr val="000000"/>
                </a:solidFill>
              </a:rPr>
              <a:t>fter all runs</a:t>
            </a:r>
            <a:r>
              <a:rPr sz="1700" b="1">
                <a:solidFill>
                  <a:srgbClr val="000000"/>
                </a:solidFill>
              </a:rPr>
              <a:t>.</a:t>
            </a:r>
            <a:endParaRPr sz="1700" b="1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632764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64646"/>
                </a:solidFill>
              </a:rPr>
              <a:t>Web3 Signal-to-Lead Agent</a:t>
            </a:r>
            <a:endParaRPr sz="900" b="1">
              <a:solidFill>
                <a:srgbClr val="46464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75720" y="6327648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</a:rPr>
              <a:t>04</a:t>
            </a:r>
            <a:endParaRPr sz="900">
              <a:solidFill>
                <a:srgbClr val="000000"/>
              </a:solidFill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948672" y="2505456"/>
            <a:ext cx="0" cy="155448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729216" y="4059936"/>
            <a:ext cx="219456" cy="0"/>
          </a:xfrm>
          <a:prstGeom prst="line">
            <a:avLst/>
          </a:prstGeom>
          <a:ln w="25400">
            <a:solidFill>
              <a:srgbClr val="464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0"/>
          <p:cNvSpPr txBox="1"/>
          <p:nvPr/>
        </p:nvSpPr>
        <p:spPr>
          <a:xfrm>
            <a:off x="9763252" y="2331593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64646"/>
                </a:solidFill>
              </a:rPr>
              <a:t>&gt;</a:t>
            </a:r>
            <a:endParaRPr sz="1800" b="1">
              <a:solidFill>
                <a:srgbClr val="46464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400050" y="342900"/>
            <a:ext cx="4000500" cy="318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400" b="1">
                <a:solidFill>
                  <a:srgbClr val="555555"/>
                </a:solidFill>
              </a:rPr>
              <a:t>CAPSTONE CRITERIA</a:t>
            </a:r>
            <a:endParaRPr sz="1400" b="1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742950"/>
            <a:ext cx="1076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Course concepts mapped to project evidence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62865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Web3 Signal-to-Lead Agent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334750" y="6286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900">
                <a:solidFill>
                  <a:srgbClr val="000000"/>
                </a:solidFill>
              </a:rPr>
              <a:t>05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85800" y="1638300"/>
            <a:ext cx="10096500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57250" y="17526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Concept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714750" y="1752600"/>
            <a:ext cx="689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Project evidence to show in video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85800" y="2114550"/>
            <a:ext cx="2857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543300" y="2190750"/>
            <a:ext cx="7239000" cy="5048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22860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ADK + multi-agent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714750" y="2209800"/>
            <a:ext cx="6896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lang="en-US" altLang="en-US" sz="1600" b="0">
                <a:solidFill>
                  <a:srgbClr val="555555"/>
                </a:solidFill>
              </a:rPr>
              <a:t>ADK root agent + multi-stage production pipeline with BD-week passes</a:t>
            </a:r>
            <a:endParaRPr lang="en-US" altLang="en-US" sz="1600" b="0">
              <a:solidFill>
                <a:srgbClr val="555555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85800" y="2743200"/>
            <a:ext cx="2857500" cy="6286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543300" y="2743200"/>
            <a:ext cx="7239000" cy="6286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57250" y="29146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MCP server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714750" y="2857500"/>
            <a:ext cx="68961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600" b="0">
                <a:solidFill>
                  <a:srgbClr val="555555"/>
                </a:solidFill>
              </a:rPr>
              <a:t>src/mcp_server.py: list sanitized events, run demo, read report</a:t>
            </a:r>
            <a:endParaRPr sz="1600" b="0">
              <a:solidFill>
                <a:srgbClr val="555555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85800" y="3371850"/>
            <a:ext cx="2857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3543300" y="3371850"/>
            <a:ext cx="72390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35433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Security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714750" y="3501390"/>
            <a:ext cx="6896100" cy="447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lang="en-US" altLang="en-US" sz="1600" b="0">
                <a:solidFill>
                  <a:srgbClr val="555555"/>
                </a:solidFill>
              </a:rPr>
              <a:t>.gitignore, .env.example, no-secret demo, executable security check</a:t>
            </a:r>
            <a:endParaRPr lang="en-US" altLang="en-US" sz="1600" b="0">
              <a:solidFill>
                <a:srgbClr val="555555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85800" y="4000500"/>
            <a:ext cx="2857500" cy="6286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3543300" y="4000500"/>
            <a:ext cx="7239000" cy="6286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57250" y="41719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Agent Skill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3714750" y="4124325"/>
            <a:ext cx="689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lang="en-US" altLang="en-US" sz="1600" b="0">
                <a:solidFill>
                  <a:srgbClr val="555555"/>
                </a:solidFill>
              </a:rPr>
              <a:t>Web3 lead qualification rules in SKILL.md</a:t>
            </a:r>
            <a:endParaRPr lang="en-US" altLang="en-US" sz="1600" b="0">
              <a:solidFill>
                <a:srgbClr val="555555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685800" y="4629150"/>
            <a:ext cx="2857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3543300" y="4629150"/>
            <a:ext cx="72390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572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Deployability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3714750" y="4724400"/>
            <a:ext cx="6896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lang="en-US" altLang="en-US" sz="1600" b="0">
                <a:solidFill>
                  <a:srgbClr val="555555"/>
                </a:solidFill>
              </a:rPr>
              <a:t>Local CLI demo with sanitized sample + CSV/MD/HTML artifacts</a:t>
            </a:r>
            <a:endParaRPr lang="en-US" altLang="en-US" sz="160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400050" y="342900"/>
            <a:ext cx="31902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400" b="1">
                <a:solidFill>
                  <a:srgbClr val="555555"/>
                </a:solidFill>
              </a:rPr>
              <a:t>CLI D</a:t>
            </a:r>
            <a:r>
              <a:rPr sz="1400" b="1">
                <a:solidFill>
                  <a:srgbClr val="555555"/>
                </a:solidFill>
              </a:rPr>
              <a:t>EMO + DEPLOYABILITY</a:t>
            </a:r>
            <a:endParaRPr sz="1400" b="1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742950"/>
            <a:ext cx="1076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Live demo path: sanitized sample, local, no secrets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62865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Web3 Signal-to-Lead Agent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334750" y="6286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900">
                <a:solidFill>
                  <a:srgbClr val="000000"/>
                </a:solidFill>
              </a:rPr>
              <a:t>06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56895" y="2114550"/>
            <a:ext cx="6036310" cy="7620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73100" y="2286000"/>
            <a:ext cx="4908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lang="en-US" altLang="en-US" sz="1600">
                <a:sym typeface="+mn-ea"/>
              </a:rPr>
              <a:t>.\.venv\Scripts\</a:t>
            </a:r>
            <a:r>
              <a:rPr sz="1600" b="0">
                <a:solidFill>
                  <a:srgbClr val="FFFFFF"/>
                </a:solidFill>
              </a:rPr>
              <a:t>python</a:t>
            </a:r>
            <a:r>
              <a:rPr lang="en-IN" sz="1600" b="0">
                <a:solidFill>
                  <a:srgbClr val="FFFFFF"/>
                </a:solidFill>
              </a:rPr>
              <a:t>.exe</a:t>
            </a:r>
            <a:r>
              <a:rPr sz="1600" b="0">
                <a:solidFill>
                  <a:srgbClr val="FFFFFF"/>
                </a:solidFill>
              </a:rPr>
              <a:t> src/cli.py build-static-demo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56895" y="3105150"/>
            <a:ext cx="6036945" cy="7620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47700" y="3276600"/>
            <a:ext cx="591058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lang="en-US" altLang="en-US" sz="1600" b="0">
                <a:solidFill>
                  <a:srgbClr val="FFFFFF"/>
                </a:solidFill>
              </a:rPr>
              <a:t>.\.venv\Scripts\</a:t>
            </a:r>
            <a:r>
              <a:rPr sz="1600" b="0">
                <a:solidFill>
                  <a:srgbClr val="FFFFFF"/>
                </a:solidFill>
              </a:rPr>
              <a:t>python</a:t>
            </a:r>
            <a:r>
              <a:rPr lang="en-IN" sz="1600" b="0">
                <a:solidFill>
                  <a:srgbClr val="FFFFFF"/>
                </a:solidFill>
              </a:rPr>
              <a:t>.exe</a:t>
            </a:r>
            <a:r>
              <a:rPr sz="1600" b="0">
                <a:solidFill>
                  <a:srgbClr val="FFFFFF"/>
                </a:solidFill>
              </a:rPr>
              <a:t> -m unittest discover -s tests -p "test_*.py"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032625" y="1988820"/>
            <a:ext cx="4189095" cy="2476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392670" y="220472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Public demo artifacts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446645" y="2876550"/>
            <a:ext cx="348805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• sanitized real sample events</a:t>
            </a:r>
            <a:endParaRPr sz="1725" b="0">
              <a:solidFill>
                <a:srgbClr val="555555"/>
              </a:solidFill>
            </a:endParaRPr>
          </a:p>
          <a:p>
            <a:pPr algn="l"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• retained leads from sample</a:t>
            </a:r>
            <a:endParaRPr sz="1725" b="0">
              <a:solidFill>
                <a:srgbClr val="555555"/>
              </a:solidFill>
            </a:endParaRPr>
          </a:p>
          <a:p>
            <a:pPr algn="l"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• demo_opportunities.csv</a:t>
            </a:r>
            <a:endParaRPr sz="1725" b="0">
              <a:solidFill>
                <a:srgbClr val="555555"/>
              </a:solidFill>
            </a:endParaRPr>
          </a:p>
          <a:p>
            <a:pPr algn="l"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• demo_report.md</a:t>
            </a:r>
            <a:endParaRPr sz="1725" b="0">
              <a:solidFill>
                <a:srgbClr val="555555"/>
              </a:solidFill>
            </a:endParaRPr>
          </a:p>
          <a:p>
            <a:pPr algn="l"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• demo_report.html</a:t>
            </a:r>
            <a:endParaRPr sz="1725" b="0">
              <a:solidFill>
                <a:srgbClr val="555555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23570" y="500634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lang="en-US" altLang="en-US" sz="1725" b="1">
                <a:solidFill>
                  <a:srgbClr val="000000"/>
                </a:solidFill>
              </a:rPr>
              <a:t>Public demo: local, reproducible, no secrets. Production: weekly email reports and dashboard publishin</a:t>
            </a:r>
            <a:r>
              <a:rPr lang="en-IN" altLang="en-US" sz="1725" b="1">
                <a:solidFill>
                  <a:srgbClr val="000000"/>
                </a:solidFill>
              </a:rPr>
              <a:t>g</a:t>
            </a:r>
            <a:r>
              <a:rPr sz="1725" b="1">
                <a:solidFill>
                  <a:srgbClr val="000000"/>
                </a:solidFill>
              </a:rPr>
              <a:t>.</a:t>
            </a:r>
            <a:endParaRPr sz="1725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400050" y="342900"/>
            <a:ext cx="4000500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400" b="1">
                <a:solidFill>
                  <a:srgbClr val="555555"/>
                </a:solidFill>
              </a:rPr>
              <a:t>ADK + MCP</a:t>
            </a:r>
            <a:endParaRPr sz="1400" b="1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742950"/>
            <a:ext cx="1076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lang="en-IN" sz="3150" b="1">
                <a:solidFill>
                  <a:srgbClr val="000000"/>
                </a:solidFill>
              </a:rPr>
              <a:t>ADK </a:t>
            </a:r>
            <a:r>
              <a:rPr sz="3150" b="1">
                <a:solidFill>
                  <a:srgbClr val="000000"/>
                </a:solidFill>
              </a:rPr>
              <a:t>agent wrapper and MCP </a:t>
            </a:r>
            <a:r>
              <a:rPr lang="en-IN" sz="3150" b="1">
                <a:solidFill>
                  <a:srgbClr val="000000"/>
                </a:solidFill>
              </a:rPr>
              <a:t>tool </a:t>
            </a:r>
            <a:r>
              <a:rPr sz="3150" b="1">
                <a:solidFill>
                  <a:srgbClr val="000000"/>
                </a:solidFill>
              </a:rPr>
              <a:t>interface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62865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Web3 Signal-to-Lead Agent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334750" y="6286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900">
                <a:solidFill>
                  <a:srgbClr val="000000"/>
                </a:solidFill>
              </a:rPr>
              <a:t>07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90550" y="2095500"/>
            <a:ext cx="4871720" cy="2952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23812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ADK</a:t>
            </a:r>
            <a:endParaRPr sz="2550" b="1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76300" y="3028950"/>
            <a:ext cx="4095750" cy="7048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085850" y="3200400"/>
            <a:ext cx="3676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adk run web3_leads_agent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76300" y="4000500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lang="en-IN" sz="1650" b="0">
                <a:solidFill>
                  <a:srgbClr val="555555"/>
                </a:solidFill>
              </a:rPr>
              <a:t>Prompt</a:t>
            </a:r>
            <a:r>
              <a:rPr sz="1650" b="0">
                <a:solidFill>
                  <a:srgbClr val="555555"/>
                </a:solidFill>
              </a:rPr>
              <a:t>: “Run the sanitized public demo and summarize the top leads.”</a:t>
            </a:r>
            <a:endParaRPr sz="1650" b="0">
              <a:solidFill>
                <a:srgbClr val="555555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880100" y="2095500"/>
            <a:ext cx="5761990" cy="2952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600190" y="222377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MCP</a:t>
            </a:r>
            <a:endParaRPr sz="2550" b="1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096000" y="2724150"/>
            <a:ext cx="5294630" cy="62166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128385" y="2853055"/>
            <a:ext cx="546036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lang="en-US" altLang="en-US" sz="1600" b="0">
                <a:solidFill>
                  <a:srgbClr val="FFFFFF"/>
                </a:solidFill>
              </a:rPr>
              <a:t>.\.venv\Scripts\python.exe src/mcp_server.py</a:t>
            </a:r>
            <a:endParaRPr lang="en-US" altLang="en-US" sz="1600" b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12535" y="4293235"/>
            <a:ext cx="4330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lang="en-IN" sz="1650" b="0">
                <a:solidFill>
                  <a:srgbClr val="555555"/>
                </a:solidFill>
              </a:rPr>
              <a:t>Validates MCP T</a:t>
            </a:r>
            <a:r>
              <a:rPr sz="1650" b="0">
                <a:solidFill>
                  <a:srgbClr val="555555"/>
                </a:solidFill>
              </a:rPr>
              <a:t>ools: list_sample_events, run_lead_demo, read_demo_report.</a:t>
            </a:r>
            <a:endParaRPr sz="1650" b="0">
              <a:solidFill>
                <a:srgbClr val="555555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96000" y="3556000"/>
            <a:ext cx="5295265" cy="62166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592445" y="5070475"/>
            <a:ext cx="546036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lang="en-US" altLang="en-US" sz="1600" b="0">
                <a:solidFill>
                  <a:srgbClr val="FFFFFF"/>
                </a:solidFill>
              </a:rPr>
              <a:t>.\.venv\Scripts\python.exe -m unittest tests.test_mcp_server</a:t>
            </a:r>
            <a:endParaRPr lang="en-US" altLang="en-US" sz="16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400050" y="342900"/>
            <a:ext cx="4000500" cy="321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400" b="1">
                <a:solidFill>
                  <a:srgbClr val="555555"/>
                </a:solidFill>
              </a:rPr>
              <a:t>SECURITY</a:t>
            </a:r>
            <a:endParaRPr sz="1400" b="1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742950"/>
            <a:ext cx="1076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Security posture: public demo must be clean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62865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Web3 Signal-to-Lead Agent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334750" y="6286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900">
                <a:solidFill>
                  <a:srgbClr val="000000"/>
                </a:solidFill>
              </a:rPr>
              <a:t>08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23900" y="2095500"/>
            <a:ext cx="4953000" cy="7620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33450" y="226695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lang="en-US" altLang="en-US" sz="1500" b="0">
                <a:solidFill>
                  <a:srgbClr val="FFFFFF"/>
                </a:solidFill>
              </a:rPr>
              <a:t>.\.venv\Scripts\python.exe src/cli.py security-check</a:t>
            </a:r>
            <a:endParaRPr lang="en-US" altLang="en-US" sz="1500" b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34150" y="2019300"/>
            <a:ext cx="4762500" cy="1428750"/>
          </a:xfrm>
          <a:prstGeom prst="rect">
            <a:avLst/>
          </a:prstGeom>
          <a:solidFill>
            <a:srgbClr val="FFE6DA"/>
          </a:solidFill>
          <a:ln w="9525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800850" y="2266950"/>
            <a:ext cx="436308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Local development </a:t>
            </a:r>
            <a:r>
              <a:rPr lang="en-IN" sz="1950" b="1">
                <a:solidFill>
                  <a:srgbClr val="000000"/>
                </a:solidFill>
              </a:rPr>
              <a:t>will fail intentionally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800850" y="2724150"/>
            <a:ext cx="424942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/>
              <a:t>.env is intentionally flagged because it contains the API key used to run ADK locally.</a:t>
            </a:r>
            <a:endParaRPr lang="en-IN" sz="1600" b="0">
              <a:solidFill>
                <a:srgbClr val="555555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23900" y="3695700"/>
            <a:ext cx="10572750" cy="11620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009650" y="39433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For GitHub/Kaggle public release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009650" y="44005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/>
              <a:t>Remove private files, keep .env.example, and rerun security-check in a clean public copy.</a:t>
            </a:r>
            <a:endParaRPr sz="150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3353</Words>
  <Application>WPS Presentation</Application>
  <PresentationFormat>Converted Presentation</PresentationFormat>
  <Paragraphs>221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s_sai</cp:lastModifiedBy>
  <cp:revision>32</cp:revision>
  <dcterms:created xsi:type="dcterms:W3CDTF">2026-06-30T04:29:00Z</dcterms:created>
  <dcterms:modified xsi:type="dcterms:W3CDTF">2026-07-03T07:56:40Z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2FFCC31CC5194AE0B10636812CCE17D6_12</vt:lpwstr>
  </property>
</Properties>
</file>